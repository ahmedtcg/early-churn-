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Project: Customer Churn Prediction Model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Objective: Build a machine learning model to identify customers likely to become</a:t>
            </a:r>
          </a:p>
          <a:p>
            <a:pPr>
              <a:spcAft>
                <a:spcPts val="400"/>
              </a:spcAft>
              <a:defRPr sz="1400"/>
            </a:pPr>
            <a:r>
              <a:t>inactive in the next 30 days, enabling proactive retention efforts.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Business Context:</a:t>
            </a:r>
          </a:p>
          <a:p>
            <a:pPr>
              <a:spcAft>
                <a:spcPts val="400"/>
              </a:spcAft>
              <a:defRPr sz="1400"/>
            </a:pPr>
            <a:r>
              <a:t>  - Customer retention is more cost-effective than acquisition</a:t>
            </a:r>
          </a:p>
          <a:p>
            <a:pPr>
              <a:spcAft>
                <a:spcPts val="400"/>
              </a:spcAft>
              <a:defRPr sz="1400"/>
            </a:pPr>
            <a:r>
              <a:t>  - Early identification allows targeted intervention</a:t>
            </a:r>
          </a:p>
          <a:p>
            <a:pPr>
              <a:spcAft>
                <a:spcPts val="400"/>
              </a:spcAft>
              <a:defRPr sz="1400"/>
            </a:pPr>
            <a:r>
              <a:t>  - Data-driven prioritization of retention resources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Current Status: Production ready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Key Metrics:</a:t>
            </a:r>
          </a:p>
          <a:p>
            <a:pPr>
              <a:spcAft>
                <a:spcPts val="400"/>
              </a:spcAft>
              <a:defRPr sz="1400"/>
            </a:pPr>
            <a:r>
              <a:t>  ROC-AUC:   90.5% (Model correctly ranks customers 90.5% of the time)</a:t>
            </a:r>
          </a:p>
          <a:p>
            <a:pPr>
              <a:spcAft>
                <a:spcPts val="400"/>
              </a:spcAft>
              <a:defRPr sz="1400"/>
            </a:pPr>
            <a:r>
              <a:t>  PR-AUC:    88.8% (Strong performance on imbalanced data)</a:t>
            </a:r>
          </a:p>
          <a:p>
            <a:pPr>
              <a:spcAft>
                <a:spcPts val="400"/>
              </a:spcAft>
              <a:defRPr sz="1400"/>
            </a:pPr>
            <a:r>
              <a:t>  F1 Score:  85.5% (Good balance of precision and recall)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Churn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Definition: A customer is 'churned' if they have zero engagement for 30 days.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Rationale for 30-day window:</a:t>
            </a:r>
          </a:p>
          <a:p>
            <a:pPr>
              <a:spcAft>
                <a:spcPts val="400"/>
              </a:spcAft>
              <a:defRPr sz="1400"/>
            </a:pPr>
            <a:r>
              <a:t>  - Balances early detection with prediction reliability</a:t>
            </a:r>
          </a:p>
          <a:p>
            <a:pPr>
              <a:spcAft>
                <a:spcPts val="400"/>
              </a:spcAft>
              <a:defRPr sz="1400"/>
            </a:pPr>
            <a:r>
              <a:t>  - Aligns with monthly business cycles</a:t>
            </a:r>
          </a:p>
          <a:p>
            <a:pPr>
              <a:spcAft>
                <a:spcPts val="400"/>
              </a:spcAft>
              <a:defRPr sz="1400"/>
            </a:pPr>
            <a:r>
              <a:t>  - Provides sufficient time for intervention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Activity Events Included (Positive Engagement):</a:t>
            </a:r>
          </a:p>
          <a:p>
            <a:pPr>
              <a:spcAft>
                <a:spcPts val="400"/>
              </a:spcAft>
              <a:defRPr sz="1400"/>
            </a:pPr>
            <a:r>
              <a:t>  emarsys_open       Customer opened marketing email      11.4M events</a:t>
            </a:r>
          </a:p>
          <a:p>
            <a:pPr>
              <a:spcAft>
                <a:spcPts val="400"/>
              </a:spcAft>
              <a:defRPr sz="1400"/>
            </a:pPr>
            <a:r>
              <a:t>  emarsys_click      Customer clicked link in email       427K events</a:t>
            </a:r>
          </a:p>
          <a:p>
            <a:pPr>
              <a:spcAft>
                <a:spcPts val="400"/>
              </a:spcAft>
              <a:defRPr sz="1400"/>
            </a:pPr>
            <a:r>
              <a:t>  order              Customer completed a purchase        178K events</a:t>
            </a:r>
          </a:p>
          <a:p>
            <a:pPr>
              <a:spcAft>
                <a:spcPts val="400"/>
              </a:spcAft>
              <a:defRPr sz="1400"/>
            </a:pPr>
            <a:r>
              <a:t>  emarsys_sessions_* Customer visited website             8.4M events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Activity Events Excluded (Non-Engagement):</a:t>
            </a:r>
          </a:p>
          <a:p>
            <a:pPr>
              <a:spcAft>
                <a:spcPts val="400"/>
              </a:spcAft>
              <a:defRPr sz="1400"/>
            </a:pPr>
            <a:r>
              <a:t>  emarsys_cancel, emarsys_hard_bounce, emarsys_soft_bounce, emarsys_unsub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Note: Customers with ONLY excluded events are labeled 'weak_signal'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Source &amp;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Source Database: Amazon Redshift</a:t>
            </a:r>
          </a:p>
          <a:p>
            <a:pPr>
              <a:spcAft>
                <a:spcPts val="400"/>
              </a:spcAft>
              <a:defRPr sz="1400"/>
            </a:pPr>
            <a:r>
              <a:t>Table: poc_dw.customer_interactions_fact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Extraction Query (see data/extract_customers.sql):</a:t>
            </a:r>
          </a:p>
          <a:p>
            <a:pPr>
              <a:spcAft>
                <a:spcPts val="400"/>
              </a:spcAft>
              <a:defRPr sz="1400"/>
            </a:pPr>
            <a:r>
              <a:t>  - Random sample of 200,000 distinct customers</a:t>
            </a:r>
          </a:p>
          <a:p>
            <a:pPr>
              <a:spcAft>
                <a:spcPts val="400"/>
              </a:spcAft>
              <a:defRPr sz="1400"/>
            </a:pPr>
            <a:r>
              <a:t>  - Last 36 months of data</a:t>
            </a:r>
          </a:p>
          <a:p>
            <a:pPr>
              <a:spcAft>
                <a:spcPts val="400"/>
              </a:spcAft>
              <a:defRPr sz="1400"/>
            </a:pPr>
            <a:r>
              <a:t>  - Filter: incoming_outgoing = 'incoming'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SQL:</a:t>
            </a:r>
          </a:p>
          <a:p>
            <a:pPr>
              <a:spcAft>
                <a:spcPts val="400"/>
              </a:spcAft>
              <a:defRPr sz="1400"/>
            </a:pPr>
            <a:r>
              <a:t>  WITH sampled_customers AS (</a:t>
            </a:r>
          </a:p>
          <a:p>
            <a:pPr>
              <a:spcAft>
                <a:spcPts val="400"/>
              </a:spcAft>
              <a:defRPr sz="1400"/>
            </a:pPr>
            <a:r>
              <a:t>      SELECT external_customerkey FROM (</a:t>
            </a:r>
          </a:p>
          <a:p>
            <a:pPr>
              <a:spcAft>
                <a:spcPts val="400"/>
              </a:spcAft>
              <a:defRPr sz="1400"/>
            </a:pPr>
            <a:r>
              <a:t>          SELECT DISTINCT external_customerkey</a:t>
            </a:r>
          </a:p>
          <a:p>
            <a:pPr>
              <a:spcAft>
                <a:spcPts val="400"/>
              </a:spcAft>
              <a:defRPr sz="1400"/>
            </a:pPr>
            <a:r>
              <a:t>          FROM poc_dw.customer_interactions_fact</a:t>
            </a:r>
          </a:p>
          <a:p>
            <a:pPr>
              <a:spcAft>
                <a:spcPts val="400"/>
              </a:spcAft>
              <a:defRPr sz="1400"/>
            </a:pPr>
            <a:r>
              <a:t>          WHERE event_time &gt;= DATEADD(month, -36, CURRENT_DATE)</a:t>
            </a:r>
          </a:p>
          <a:p>
            <a:pPr>
              <a:spcAft>
                <a:spcPts val="400"/>
              </a:spcAft>
              <a:defRPr sz="1400"/>
            </a:pPr>
            <a:r>
              <a:t>            AND incoming_outgoing = 'incoming'</a:t>
            </a:r>
          </a:p>
          <a:p>
            <a:pPr>
              <a:spcAft>
                <a:spcPts val="400"/>
              </a:spcAft>
              <a:defRPr sz="1400"/>
            </a:pPr>
            <a:r>
              <a:t>      ) c ORDER BY RANDOM() LIMIT 200000</a:t>
            </a:r>
          </a:p>
          <a:p>
            <a:pPr>
              <a:spcAft>
                <a:spcPts val="400"/>
              </a:spcAft>
              <a:defRPr sz="1400"/>
            </a:pPr>
            <a:r>
              <a:t>  )</a:t>
            </a:r>
          </a:p>
          <a:p>
            <a:pPr>
              <a:spcAft>
                <a:spcPts val="400"/>
              </a:spcAft>
              <a:defRPr sz="1400"/>
            </a:pPr>
            <a:r>
              <a:t>  SELECT external_customerkey, event_time, interaction_type 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Dataset Statistics:</a:t>
            </a:r>
          </a:p>
          <a:p>
            <a:pPr>
              <a:spcAft>
                <a:spcPts val="400"/>
              </a:spcAft>
              <a:defRPr sz="1400"/>
            </a:pPr>
            <a:r>
              <a:t>  Total Customers:           200,000</a:t>
            </a:r>
          </a:p>
          <a:p>
            <a:pPr>
              <a:spcAft>
                <a:spcPts val="400"/>
              </a:spcAft>
              <a:defRPr sz="1400"/>
            </a:pPr>
            <a:r>
              <a:t>  Total Events:              21,671,807</a:t>
            </a:r>
          </a:p>
          <a:p>
            <a:pPr>
              <a:spcAft>
                <a:spcPts val="400"/>
              </a:spcAft>
              <a:defRPr sz="1400"/>
            </a:pPr>
            <a:r>
              <a:t>  Activity Events (filtered): 20,417,637</a:t>
            </a:r>
          </a:p>
          <a:p>
            <a:pPr>
              <a:spcAft>
                <a:spcPts val="400"/>
              </a:spcAft>
              <a:defRPr sz="1400"/>
            </a:pPr>
            <a:r>
              <a:t>  Date Range:                Feb 2023 - Jan 2026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Event Type Distribution:</a:t>
            </a:r>
          </a:p>
          <a:p>
            <a:pPr>
              <a:spcAft>
                <a:spcPts val="400"/>
              </a:spcAft>
              <a:defRPr sz="1400"/>
            </a:pPr>
            <a:r>
              <a:t>  emarsys_open                      11,433,845  (56.0%)</a:t>
            </a:r>
          </a:p>
          <a:p>
            <a:pPr>
              <a:spcAft>
                <a:spcPts val="400"/>
              </a:spcAft>
              <a:defRPr sz="1400"/>
            </a:pPr>
            <a:r>
              <a:t>  emarsys_sessions_content_url       3,505,230  (17.2%)</a:t>
            </a:r>
          </a:p>
          <a:p>
            <a:pPr>
              <a:spcAft>
                <a:spcPts val="400"/>
              </a:spcAft>
              <a:defRPr sz="1400"/>
            </a:pPr>
            <a:r>
              <a:t>  emarsys_sessions_content_category  3,498,651  (17.1%)</a:t>
            </a:r>
          </a:p>
          <a:p>
            <a:pPr>
              <a:spcAft>
                <a:spcPts val="400"/>
              </a:spcAft>
              <a:defRPr sz="1400"/>
            </a:pPr>
            <a:r>
              <a:t>  emarsys_sessions_content_tag         643,060  (3.1%)</a:t>
            </a:r>
          </a:p>
          <a:p>
            <a:pPr>
              <a:spcAft>
                <a:spcPts val="400"/>
              </a:spcAft>
              <a:defRPr sz="1400"/>
            </a:pPr>
            <a:r>
              <a:t>  emarsys_click                        426,756  (2.1%)</a:t>
            </a:r>
          </a:p>
          <a:p>
            <a:pPr>
              <a:spcAft>
                <a:spcPts val="400"/>
              </a:spcAft>
              <a:defRPr sz="1400"/>
            </a:pPr>
            <a:r>
              <a:t>  emarsys_sessions_view                318,715  (1.6%)</a:t>
            </a:r>
          </a:p>
          <a:p>
            <a:pPr>
              <a:spcAft>
                <a:spcPts val="400"/>
              </a:spcAft>
              <a:defRPr sz="1400"/>
            </a:pPr>
            <a:r>
              <a:t>  emarsys_sessions_purchase            280,125  (1.4%)</a:t>
            </a:r>
          </a:p>
          <a:p>
            <a:pPr>
              <a:spcAft>
                <a:spcPts val="400"/>
              </a:spcAft>
              <a:defRPr sz="1400"/>
            </a:pPr>
            <a:r>
              <a:t>  order                                177,635  (0.9%)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Customer Segmentation:</a:t>
            </a:r>
          </a:p>
          <a:p>
            <a:pPr>
              <a:spcAft>
                <a:spcPts val="400"/>
              </a:spcAft>
              <a:defRPr sz="1400"/>
            </a:pPr>
            <a:r>
              <a:t>  With activity events:     187,923 (94%)</a:t>
            </a:r>
          </a:p>
          <a:p>
            <a:pPr>
              <a:spcAft>
                <a:spcPts val="400"/>
              </a:spcAft>
              <a:defRPr sz="1400"/>
            </a:pPr>
            <a:r>
              <a:t>  Only bounce/cancel:        12,077 (6%)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Pipeline: Raw CSV -&gt; Clean -&gt; Filter -&gt; Partition -&gt; Train -&gt; Score -&gt; Output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Step  Script                  Output                      Runtime</a:t>
            </a:r>
          </a:p>
          <a:p>
            <a:pPr>
              <a:spcAft>
                <a:spcPts val="400"/>
              </a:spcAft>
              <a:defRPr sz="1400"/>
            </a:pPr>
            <a:r>
              <a:t>1     clean.py                cleaned_events.parquet      ~60 sec</a:t>
            </a:r>
          </a:p>
          <a:p>
            <a:pPr>
              <a:spcAft>
                <a:spcPts val="400"/>
              </a:spcAft>
              <a:defRPr sz="1400"/>
            </a:pPr>
            <a:r>
              <a:t>2     activity.py             activity_events.parquet     ~30 sec</a:t>
            </a:r>
          </a:p>
          <a:p>
            <a:pPr>
              <a:spcAft>
                <a:spcPts val="400"/>
              </a:spcAft>
              <a:defRPr sz="1400"/>
            </a:pPr>
            <a:r>
              <a:t>3     partition_activity.py   activity_events_ds/         ~60 sec</a:t>
            </a:r>
          </a:p>
          <a:p>
            <a:pPr>
              <a:spcAft>
                <a:spcPts val="400"/>
              </a:spcAft>
              <a:defRPr sz="1400"/>
            </a:pPr>
            <a:r>
              <a:t>4     train_lgbm.py           churn_model_lgbm.joblib     ~120 sec</a:t>
            </a:r>
          </a:p>
          <a:p>
            <a:pPr>
              <a:spcAft>
                <a:spcPts val="400"/>
              </a:spcAft>
              <a:defRPr sz="1400"/>
            </a:pPr>
            <a:r>
              <a:t>5     score.py                customer_scores.parquet     ~60 sec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Total Runtime: ~5 minutes</a:t>
            </a:r>
          </a:p>
          <a:p>
            <a:pPr>
              <a:spcAft>
                <a:spcPts val="400"/>
              </a:spcAft>
              <a:defRPr sz="1400"/>
            </a:pPr>
            <a:r>
              <a:t>Peak Memory: ~3 GB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Execution Command:</a:t>
            </a:r>
          </a:p>
          <a:p>
            <a:pPr>
              <a:spcAft>
                <a:spcPts val="400"/>
              </a:spcAft>
              <a:defRPr sz="1400"/>
            </a:pPr>
            <a:r>
              <a:t>  python scripts/run_pipeline.py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Total Features: 53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1. Recency Features:</a:t>
            </a:r>
          </a:p>
          <a:p>
            <a:pPr>
              <a:spcAft>
                <a:spcPts val="400"/>
              </a:spcAft>
              <a:defRPr sz="1400"/>
            </a:pPr>
            <a:r>
              <a:t>   recency_days, inactive_14d, inactive_30d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2. Frequency Features (30d, 60d, 90d windows):</a:t>
            </a:r>
          </a:p>
          <a:p>
            <a:pPr>
              <a:spcAft>
                <a:spcPts val="400"/>
              </a:spcAft>
              <a:defRPr sz="1400"/>
            </a:pPr>
            <a:r>
              <a:t>   n_events_last_Xd, active_days_last_Xd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3. Event Type Counts (30d, 60d, 90d windows):</a:t>
            </a:r>
          </a:p>
          <a:p>
            <a:pPr>
              <a:spcAft>
                <a:spcPts val="400"/>
              </a:spcAft>
              <a:defRPr sz="1400"/>
            </a:pPr>
            <a:r>
              <a:t>   cnt_emarsys_open_last_Xd, cnt_emarsys_click_last_Xd,</a:t>
            </a:r>
          </a:p>
          <a:p>
            <a:pPr>
              <a:spcAft>
                <a:spcPts val="400"/>
              </a:spcAft>
              <a:defRPr sz="1400"/>
            </a:pPr>
            <a:r>
              <a:t>   cnt_order_last_Xd, cnt_emarsys_sessions_*_last_Xd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4. Trend Features:</a:t>
            </a:r>
          </a:p>
          <a:p>
            <a:pPr>
              <a:spcAft>
                <a:spcPts val="400"/>
              </a:spcAft>
              <a:defRPr sz="1400"/>
            </a:pPr>
            <a:r>
              <a:t>   freq_trend_30_60 = n_events_30d / (n_events_60d + 1)</a:t>
            </a:r>
          </a:p>
          <a:p>
            <a:pPr>
              <a:spcAft>
                <a:spcPts val="400"/>
              </a:spcAft>
              <a:defRPr sz="1400"/>
            </a:pPr>
            <a:r>
              <a:t>   freq_trend_60_90 = n_events_60d / (n_events_90d + 1)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5. Ratio Features:</a:t>
            </a:r>
          </a:p>
          <a:p>
            <a:pPr>
              <a:spcAft>
                <a:spcPts val="400"/>
              </a:spcAft>
              <a:defRPr sz="1400"/>
            </a:pPr>
            <a:r>
              <a:t>   active_ratio_30d, session_share_30d, email_share_30d,</a:t>
            </a:r>
          </a:p>
          <a:p>
            <a:pPr>
              <a:spcAft>
                <a:spcPts val="400"/>
              </a:spcAft>
              <a:defRPr sz="1400"/>
            </a:pPr>
            <a:r>
              <a:t>   click_to_open_30d, events_per_active_day_30d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Algorithm: LightGBM (Light Gradient Boosting Machine)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Why LightGBM:</a:t>
            </a:r>
          </a:p>
          <a:p>
            <a:pPr>
              <a:spcAft>
                <a:spcPts val="400"/>
              </a:spcAft>
              <a:defRPr sz="1400"/>
            </a:pPr>
            <a:r>
              <a:t>  - Handles large datasets efficiently</a:t>
            </a:r>
          </a:p>
          <a:p>
            <a:pPr>
              <a:spcAft>
                <a:spcPts val="400"/>
              </a:spcAft>
              <a:defRPr sz="1400"/>
            </a:pPr>
            <a:r>
              <a:t>  - Good performance on tabular data</a:t>
            </a:r>
          </a:p>
          <a:p>
            <a:pPr>
              <a:spcAft>
                <a:spcPts val="400"/>
              </a:spcAft>
              <a:defRPr sz="1400"/>
            </a:pPr>
            <a:r>
              <a:t>  - Fast training and inference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Key Hyperparameters:</a:t>
            </a:r>
          </a:p>
          <a:p>
            <a:pPr>
              <a:spcAft>
                <a:spcPts val="400"/>
              </a:spcAft>
              <a:defRPr sz="1400"/>
            </a:pPr>
            <a:r>
              <a:t>  objective:        binary</a:t>
            </a:r>
          </a:p>
          <a:p>
            <a:pPr>
              <a:spcAft>
                <a:spcPts val="400"/>
              </a:spcAft>
              <a:defRPr sz="1400"/>
            </a:pPr>
            <a:r>
              <a:t>  num_leaves:       31</a:t>
            </a:r>
          </a:p>
          <a:p>
            <a:pPr>
              <a:spcAft>
                <a:spcPts val="400"/>
              </a:spcAft>
              <a:defRPr sz="1400"/>
            </a:pPr>
            <a:r>
              <a:t>  max_depth:        6</a:t>
            </a:r>
          </a:p>
          <a:p>
            <a:pPr>
              <a:spcAft>
                <a:spcPts val="400"/>
              </a:spcAft>
              <a:defRPr sz="1400"/>
            </a:pPr>
            <a:r>
              <a:t>  learning_rate:    0.05</a:t>
            </a:r>
          </a:p>
          <a:p>
            <a:pPr>
              <a:spcAft>
                <a:spcPts val="400"/>
              </a:spcAft>
              <a:defRPr sz="1400"/>
            </a:pPr>
            <a:r>
              <a:t>  n_estimators:     500</a:t>
            </a:r>
          </a:p>
          <a:p>
            <a:pPr>
              <a:spcAft>
                <a:spcPts val="400"/>
              </a:spcAft>
              <a:defRPr sz="1400"/>
            </a:pPr>
            <a:r>
              <a:t>  class_weight:     balanced</a:t>
            </a:r>
          </a:p>
          <a:p>
            <a:pPr>
              <a:spcAft>
                <a:spcPts val="400"/>
              </a:spcAft>
              <a:defRPr sz="1400"/>
            </a:pPr>
            <a:r>
              <a:t>  early_stopping:   50 rounds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Training Strategy:</a:t>
            </a:r>
          </a:p>
          <a:p>
            <a:pPr>
              <a:spcAft>
                <a:spcPts val="400"/>
              </a:spcAft>
              <a:defRPr sz="1400"/>
            </a:pPr>
            <a:r>
              <a:t>  - 32 rolling monthly snapshots</a:t>
            </a:r>
          </a:p>
          <a:p>
            <a:pPr>
              <a:spcAft>
                <a:spcPts val="400"/>
              </a:spcAft>
              <a:defRPr sz="1400"/>
            </a:pPr>
            <a:r>
              <a:t>  - 1,946,215 training rows</a:t>
            </a:r>
          </a:p>
          <a:p>
            <a:pPr>
              <a:spcAft>
                <a:spcPts val="400"/>
              </a:spcAft>
              <a:defRPr sz="1400"/>
            </a:pPr>
            <a:r>
              <a:t>  - Test snapshot: 2026-01-01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Top 15 Features by Importance: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Rank  Feature                        Importance  Category</a:t>
            </a:r>
          </a:p>
          <a:p>
            <a:pPr>
              <a:spcAft>
                <a:spcPts val="400"/>
              </a:spcAft>
              <a:defRPr sz="1400"/>
            </a:pPr>
            <a:r>
              <a:t>1     recency_days                   682         Recency</a:t>
            </a:r>
          </a:p>
          <a:p>
            <a:pPr>
              <a:spcAft>
                <a:spcPts val="400"/>
              </a:spcAft>
              <a:defRPr sz="1400"/>
            </a:pPr>
            <a:r>
              <a:t>2     active_days_last_90d           494         Frequency</a:t>
            </a:r>
          </a:p>
          <a:p>
            <a:pPr>
              <a:spcAft>
                <a:spcPts val="400"/>
              </a:spcAft>
              <a:defRPr sz="1400"/>
            </a:pPr>
            <a:r>
              <a:t>3     cnt_emarsys_open_last_90d      327         Event Count</a:t>
            </a:r>
          </a:p>
          <a:p>
            <a:pPr>
              <a:spcAft>
                <a:spcPts val="400"/>
              </a:spcAft>
              <a:defRPr sz="1400"/>
            </a:pPr>
            <a:r>
              <a:t>4     freq_trend_60_90               324         Trend</a:t>
            </a:r>
          </a:p>
          <a:p>
            <a:pPr>
              <a:spcAft>
                <a:spcPts val="400"/>
              </a:spcAft>
              <a:defRPr sz="1400"/>
            </a:pPr>
            <a:r>
              <a:t>5     active_days_last_30d           194         Frequency</a:t>
            </a:r>
          </a:p>
          <a:p>
            <a:pPr>
              <a:spcAft>
                <a:spcPts val="400"/>
              </a:spcAft>
              <a:defRPr sz="1400"/>
            </a:pPr>
            <a:r>
              <a:t>6     cnt_emarsys_click_last_90d     178         Event Count</a:t>
            </a:r>
          </a:p>
          <a:p>
            <a:pPr>
              <a:spcAft>
                <a:spcPts val="400"/>
              </a:spcAft>
              <a:defRPr sz="1400"/>
            </a:pPr>
            <a:r>
              <a:t>7     active_days_last_60d           176         Frequency</a:t>
            </a:r>
          </a:p>
          <a:p>
            <a:pPr>
              <a:spcAft>
                <a:spcPts val="400"/>
              </a:spcAft>
              <a:defRPr sz="1400"/>
            </a:pPr>
            <a:r>
              <a:t>8     click_to_open_30d              133         Ratio</a:t>
            </a:r>
          </a:p>
          <a:p>
            <a:pPr>
              <a:spcAft>
                <a:spcPts val="400"/>
              </a:spcAft>
              <a:defRPr sz="1400"/>
            </a:pPr>
            <a:r>
              <a:t>9     cnt_order_last_90d             131         Event Count</a:t>
            </a:r>
          </a:p>
          <a:p>
            <a:pPr>
              <a:spcAft>
                <a:spcPts val="400"/>
              </a:spcAft>
              <a:defRPr sz="1400"/>
            </a:pPr>
            <a:r>
              <a:t>10    freq_trend_30_60               124         Trend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Key Observations:</a:t>
            </a:r>
          </a:p>
          <a:p>
            <a:pPr>
              <a:spcAft>
                <a:spcPts val="400"/>
              </a:spcAft>
              <a:defRPr sz="1400"/>
            </a:pPr>
            <a:r>
              <a:t>  - Recency dominates: Days since last activity is strongest predictor</a:t>
            </a:r>
          </a:p>
          <a:p>
            <a:pPr>
              <a:spcAft>
                <a:spcPts val="400"/>
              </a:spcAft>
              <a:defRPr sz="1400"/>
            </a:pPr>
            <a:r>
              <a:t>  - 90-day window most important: Longer-term patterns matter</a:t>
            </a:r>
          </a:p>
          <a:p>
            <a:pPr>
              <a:spcAft>
                <a:spcPts val="400"/>
              </a:spcAft>
              <a:defRPr sz="1400"/>
            </a:pPr>
            <a:r>
              <a:t>  - Trends are predictive: Changes in behavior signal churn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Performance -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Test Set Configuration:</a:t>
            </a:r>
          </a:p>
          <a:p>
            <a:pPr>
              <a:spcAft>
                <a:spcPts val="400"/>
              </a:spcAft>
              <a:defRPr sz="1400"/>
            </a:pPr>
            <a:r>
              <a:t>  Snapshot date: 2026-01-01</a:t>
            </a:r>
          </a:p>
          <a:p>
            <a:pPr>
              <a:spcAft>
                <a:spcPts val="400"/>
              </a:spcAft>
              <a:defRPr sz="1400"/>
            </a:pPr>
            <a:r>
              <a:t>  Customers: 73,007</a:t>
            </a:r>
          </a:p>
          <a:p>
            <a:pPr>
              <a:spcAft>
                <a:spcPts val="400"/>
              </a:spcAft>
              <a:defRPr sz="1400"/>
            </a:pPr>
            <a:r>
              <a:t>  Churn rate: 52.7%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Classification Metrics (threshold = 0.5):</a:t>
            </a:r>
          </a:p>
          <a:p>
            <a:pPr>
              <a:spcAft>
                <a:spcPts val="400"/>
              </a:spcAft>
              <a:defRPr sz="1400"/>
            </a:pPr>
            <a:r>
              <a:t>  Accuracy:   85.4%</a:t>
            </a:r>
          </a:p>
          <a:p>
            <a:pPr>
              <a:spcAft>
                <a:spcPts val="400"/>
              </a:spcAft>
              <a:defRPr sz="1400"/>
            </a:pPr>
            <a:r>
              <a:t>  Precision:  87.2%</a:t>
            </a:r>
          </a:p>
          <a:p>
            <a:pPr>
              <a:spcAft>
                <a:spcPts val="400"/>
              </a:spcAft>
              <a:defRPr sz="1400"/>
            </a:pPr>
            <a:r>
              <a:t>  Recall:     83.1%</a:t>
            </a:r>
          </a:p>
          <a:p>
            <a:pPr>
              <a:spcAft>
                <a:spcPts val="400"/>
              </a:spcAft>
              <a:defRPr sz="1400"/>
            </a:pPr>
            <a:r>
              <a:t>  F1 Score:   85.1%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Ranking Metrics:</a:t>
            </a:r>
          </a:p>
          <a:p>
            <a:pPr>
              <a:spcAft>
                <a:spcPts val="400"/>
              </a:spcAft>
              <a:defRPr sz="1400"/>
            </a:pPr>
            <a:r>
              <a:t>  ROC-AUC:    90.5%  (Excellent discrimination)</a:t>
            </a:r>
          </a:p>
          <a:p>
            <a:pPr>
              <a:spcAft>
                <a:spcPts val="400"/>
              </a:spcAft>
              <a:defRPr sz="1400"/>
            </a:pPr>
            <a:r>
              <a:t>  PR-AUC:     88.8%  (Strong on imbalanced data)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Optimal threshold for F1: 0.47 (F1 = 0.855)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Performance - Rolling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12-Month Rolling Evaluation: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Snapshot      Customers  Churn   ROC-AUC  PR-AUC  F1-opt</a:t>
            </a:r>
          </a:p>
          <a:p>
            <a:pPr>
              <a:spcAft>
                <a:spcPts val="400"/>
              </a:spcAft>
              <a:defRPr sz="1400"/>
            </a:pPr>
            <a:r>
              <a:t>2026-01-01    73,007     52.7%   0.905    0.888   0.855</a:t>
            </a:r>
          </a:p>
          <a:p>
            <a:pPr>
              <a:spcAft>
                <a:spcPts val="400"/>
              </a:spcAft>
              <a:defRPr sz="1400"/>
            </a:pPr>
            <a:r>
              <a:t>2025-12-02    65,708     39.7%   0.890    0.807   0.780</a:t>
            </a:r>
          </a:p>
          <a:p>
            <a:pPr>
              <a:spcAft>
                <a:spcPts val="400"/>
              </a:spcAft>
              <a:defRPr sz="1400"/>
            </a:pPr>
            <a:r>
              <a:t>2025-11-02    60,397     37.9%   0.886    0.784   0.769</a:t>
            </a:r>
          </a:p>
          <a:p>
            <a:pPr>
              <a:spcAft>
                <a:spcPts val="400"/>
              </a:spcAft>
              <a:defRPr sz="1400"/>
            </a:pPr>
            <a:r>
              <a:t>2025-10-03    58,233     37.5%   0.893    0.790   0.779</a:t>
            </a:r>
          </a:p>
          <a:p>
            <a:pPr>
              <a:spcAft>
                <a:spcPts val="400"/>
              </a:spcAft>
              <a:defRPr sz="1400"/>
            </a:pPr>
            <a:r>
              <a:t>2025-09-03    57,824     38.8%   0.898    0.805   0.790</a:t>
            </a:r>
          </a:p>
          <a:p>
            <a:pPr>
              <a:spcAft>
                <a:spcPts val="400"/>
              </a:spcAft>
              <a:defRPr sz="1400"/>
            </a:pPr>
            <a:r>
              <a:t>2025-08-04    58,120     40.5%   0.901    0.823   0.800</a:t>
            </a:r>
          </a:p>
          <a:p>
            <a:pPr>
              <a:spcAft>
                <a:spcPts val="400"/>
              </a:spcAft>
              <a:defRPr sz="1400"/>
            </a:pPr>
            <a:r>
              <a:t>2025-07-05    59,657     42.2%   0.899    0.831   0.810</a:t>
            </a:r>
          </a:p>
          <a:p>
            <a:pPr>
              <a:spcAft>
                <a:spcPts val="400"/>
              </a:spcAft>
              <a:defRPr sz="1400"/>
            </a:pPr>
            <a:r>
              <a:t>2025-06-05    60,640     43.1%   0.908    0.851   0.820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Summary: ROC-AUC range 0.886-0.908 (stable, low variance)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Scoring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Scoring Configuration:</a:t>
            </a:r>
          </a:p>
          <a:p>
            <a:pPr>
              <a:spcAft>
                <a:spcPts val="400"/>
              </a:spcAft>
              <a:defRPr sz="1400"/>
            </a:pPr>
            <a:r>
              <a:t>  Snapshot: 2026-01-31</a:t>
            </a:r>
          </a:p>
          <a:p>
            <a:pPr>
              <a:spcAft>
                <a:spcPts val="400"/>
              </a:spcAft>
              <a:defRPr sz="1400"/>
            </a:pPr>
            <a:r>
              <a:t>  Total customers: 200,000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Bucket Thresholds:</a:t>
            </a:r>
          </a:p>
          <a:p>
            <a:pPr>
              <a:spcAft>
                <a:spcPts val="400"/>
              </a:spcAft>
              <a:defRPr sz="1400"/>
            </a:pPr>
            <a:r>
              <a:t>  very_high:   &gt;= 0.8  (Almost certainly will churn)</a:t>
            </a:r>
          </a:p>
          <a:p>
            <a:pPr>
              <a:spcAft>
                <a:spcPts val="400"/>
              </a:spcAft>
              <a:defRPr sz="1400"/>
            </a:pPr>
            <a:r>
              <a:t>  high:        &gt;= 0.6  (Likely to churn)</a:t>
            </a:r>
          </a:p>
          <a:p>
            <a:pPr>
              <a:spcAft>
                <a:spcPts val="400"/>
              </a:spcAft>
              <a:defRPr sz="1400"/>
            </a:pPr>
            <a:r>
              <a:t>  medium:      &gt;= 0.4  (At some risk)</a:t>
            </a:r>
          </a:p>
          <a:p>
            <a:pPr>
              <a:spcAft>
                <a:spcPts val="400"/>
              </a:spcAft>
              <a:defRPr sz="1400"/>
            </a:pPr>
            <a:r>
              <a:t>  low:         &lt; 0.4   (Unlikely to churn)</a:t>
            </a:r>
          </a:p>
          <a:p>
            <a:pPr>
              <a:spcAft>
                <a:spcPts val="400"/>
              </a:spcAft>
              <a:defRPr sz="1400"/>
            </a:pPr>
            <a:r>
              <a:t>  weak_signal: N/A     (No activity data)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Distribution:</a:t>
            </a:r>
          </a:p>
          <a:p>
            <a:pPr>
              <a:spcAft>
                <a:spcPts val="400"/>
              </a:spcAft>
              <a:defRPr sz="1400"/>
            </a:pPr>
            <a:r>
              <a:t>  very_high:    149,920  (75.0%)  Priority 1</a:t>
            </a:r>
          </a:p>
          <a:p>
            <a:pPr>
              <a:spcAft>
                <a:spcPts val="400"/>
              </a:spcAft>
              <a:defRPr sz="1400"/>
            </a:pPr>
            <a:r>
              <a:t>  high:          14,057  (7.0%)   Priority 2</a:t>
            </a:r>
          </a:p>
          <a:p>
            <a:pPr>
              <a:spcAft>
                <a:spcPts val="400"/>
              </a:spcAft>
              <a:defRPr sz="1400"/>
            </a:pPr>
            <a:r>
              <a:t>  medium:         7,721  (3.9%)   Priority 3</a:t>
            </a:r>
          </a:p>
          <a:p>
            <a:pPr>
              <a:spcAft>
                <a:spcPts val="400"/>
              </a:spcAft>
              <a:defRPr sz="1400"/>
            </a:pPr>
            <a:r>
              <a:t>  low:           16,225  (8.1%)   Maintain</a:t>
            </a:r>
          </a:p>
          <a:p>
            <a:pPr>
              <a:spcAft>
                <a:spcPts val="400"/>
              </a:spcAft>
              <a:defRPr sz="1400"/>
            </a:pPr>
            <a:r>
              <a:t>  weak_signal:   12,077  (6.0%)   Data review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Note: 62% of customers are dormant (&gt;90 days inactive)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Output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Primary Output: customer_scores.parquet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Column                Type      Description</a:t>
            </a:r>
          </a:p>
          <a:p>
            <a:pPr>
              <a:spcAft>
                <a:spcPts val="400"/>
              </a:spcAft>
              <a:defRPr sz="1400"/>
            </a:pPr>
            <a:r>
              <a:t>external_customerkey  string    Unique customer identifier</a:t>
            </a:r>
          </a:p>
          <a:p>
            <a:pPr>
              <a:spcAft>
                <a:spcPts val="400"/>
              </a:spcAft>
              <a:defRPr sz="1400"/>
            </a:pPr>
            <a:r>
              <a:t>snapshot_time         datetime  When scoring was performed</a:t>
            </a:r>
          </a:p>
          <a:p>
            <a:pPr>
              <a:spcAft>
                <a:spcPts val="400"/>
              </a:spcAft>
              <a:defRPr sz="1400"/>
            </a:pPr>
            <a:r>
              <a:t>churn_probability     float64   Model probability (0-1)</a:t>
            </a:r>
          </a:p>
          <a:p>
            <a:pPr>
              <a:spcAft>
                <a:spcPts val="400"/>
              </a:spcAft>
              <a:defRPr sz="1400"/>
            </a:pPr>
            <a:r>
              <a:t>churn_bucket          string    Risk category</a:t>
            </a:r>
          </a:p>
          <a:p>
            <a:pPr>
              <a:spcAft>
                <a:spcPts val="400"/>
              </a:spcAft>
              <a:defRPr sz="1400"/>
            </a:pPr>
            <a:r>
              <a:t>churn_action          int64     Action flag (1=intervene)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Artifact Files (artifacts/ directory):</a:t>
            </a:r>
          </a:p>
          <a:p>
            <a:pPr>
              <a:spcAft>
                <a:spcPts val="400"/>
              </a:spcAft>
              <a:defRPr sz="1400"/>
            </a:pPr>
            <a:r>
              <a:t>  churn_model_lgbm.joblib      Trained model</a:t>
            </a:r>
          </a:p>
          <a:p>
            <a:pPr>
              <a:spcAft>
                <a:spcPts val="400"/>
              </a:spcAft>
              <a:defRPr sz="1400"/>
            </a:pPr>
            <a:r>
              <a:t>  feature_list_lgbm.json       Feature names (53)</a:t>
            </a:r>
          </a:p>
          <a:p>
            <a:pPr>
              <a:spcAft>
                <a:spcPts val="400"/>
              </a:spcAft>
              <a:defRPr sz="1400"/>
            </a:pPr>
            <a:r>
              <a:t>  train_meta_lgbm.json         Training metadata</a:t>
            </a:r>
          </a:p>
          <a:p>
            <a:pPr>
              <a:spcAft>
                <a:spcPts val="400"/>
              </a:spcAft>
              <a:defRPr sz="1400"/>
            </a:pPr>
            <a:r>
              <a:t>  rolling_eval_lgbm.csv        12-month evaluation</a:t>
            </a:r>
          </a:p>
          <a:p>
            <a:pPr>
              <a:spcAft>
                <a:spcPts val="400"/>
              </a:spcAft>
              <a:defRPr sz="1400"/>
            </a:pPr>
            <a:r>
              <a:t>  feature_importance_lgbm.csv  Feature importance</a:t>
            </a:r>
          </a:p>
          <a:p>
            <a:pPr>
              <a:spcAft>
                <a:spcPts val="400"/>
              </a:spcAft>
              <a:defRPr sz="1400"/>
            </a:pPr>
            <a:r>
              <a:t>  bucket_thresholds.json       Threshold configuration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Configuration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Configuration File: src/churn/config.py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Model Settings:</a:t>
            </a:r>
          </a:p>
          <a:p>
            <a:pPr>
              <a:spcAft>
                <a:spcPts val="400"/>
              </a:spcAft>
              <a:defRPr sz="1400"/>
            </a:pPr>
            <a:r>
              <a:t>  CHURN_WINDOW_DAYS = 30      # Days of inactivity = churn</a:t>
            </a:r>
          </a:p>
          <a:p>
            <a:pPr>
              <a:spcAft>
                <a:spcPts val="400"/>
              </a:spcAft>
              <a:defRPr sz="1400"/>
            </a:pPr>
            <a:r>
              <a:t>  LOOKBACK_DAYS = 90          # Feature calculation window</a:t>
            </a:r>
          </a:p>
          <a:p>
            <a:pPr>
              <a:spcAft>
                <a:spcPts val="400"/>
              </a:spcAft>
              <a:defRPr sz="1400"/>
            </a:pPr>
            <a:r>
              <a:t>  ROLLING_STEP_DAYS = 30      # Training snapshot interval</a:t>
            </a:r>
          </a:p>
          <a:p>
            <a:pPr>
              <a:spcAft>
                <a:spcPts val="400"/>
              </a:spcAft>
              <a:defRPr sz="1400"/>
            </a:pPr>
            <a:r>
              <a:t>  MAX_POOL_SNAPSHOTS = 0      # 0 = use all available</a:t>
            </a:r>
          </a:p>
          <a:p>
            <a:pPr>
              <a:spcAft>
                <a:spcPts val="400"/>
              </a:spcAft>
              <a:defRPr sz="1400"/>
            </a:pPr>
            <a:r>
              <a:t>  N_EVAL_SNAPSHOTS = 12       # Rolling evaluation periods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Scoring Thresholds:</a:t>
            </a:r>
          </a:p>
          <a:p>
            <a:pPr>
              <a:spcAft>
                <a:spcPts val="400"/>
              </a:spcAft>
              <a:defRPr sz="1400"/>
            </a:pPr>
            <a:r>
              <a:t>  THRESH_VERY_HIGH = 0.8</a:t>
            </a:r>
          </a:p>
          <a:p>
            <a:pPr>
              <a:spcAft>
                <a:spcPts val="400"/>
              </a:spcAft>
              <a:defRPr sz="1400"/>
            </a:pPr>
            <a:r>
              <a:t>  THRESH_HIGH = 0.6</a:t>
            </a:r>
          </a:p>
          <a:p>
            <a:pPr>
              <a:spcAft>
                <a:spcPts val="400"/>
              </a:spcAft>
              <a:defRPr sz="1400"/>
            </a:pPr>
            <a:r>
              <a:t>  THRESH_MEDIUM = 0.4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Activity Events:</a:t>
            </a:r>
          </a:p>
          <a:p>
            <a:pPr>
              <a:spcAft>
                <a:spcPts val="400"/>
              </a:spcAft>
              <a:defRPr sz="1400"/>
            </a:pPr>
            <a:r>
              <a:t>  ACTIVITY_EVENTS = {'emarsys_open', 'emarsys_click', 'order'}</a:t>
            </a:r>
          </a:p>
          <a:p>
            <a:pPr>
              <a:spcAft>
                <a:spcPts val="400"/>
              </a:spcAft>
              <a:defRPr sz="1400"/>
            </a:pPr>
            <a:r>
              <a:t>  ACTIVITY_PREFIX = 'emarsys_sessions_'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Refresh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Step-by-Step Refresh: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1. Extract Data from Redshift:</a:t>
            </a:r>
          </a:p>
          <a:p>
            <a:pPr>
              <a:spcAft>
                <a:spcPts val="400"/>
              </a:spcAft>
              <a:defRPr sz="1400"/>
            </a:pPr>
            <a:r>
              <a:t>   Run query in data/extract_customers.sql</a:t>
            </a:r>
          </a:p>
          <a:p>
            <a:pPr>
              <a:spcAft>
                <a:spcPts val="400"/>
              </a:spcAft>
              <a:defRPr sz="1400"/>
            </a:pPr>
            <a:r>
              <a:t>   Export results to CSV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2. Place File in Project:</a:t>
            </a:r>
          </a:p>
          <a:p>
            <a:pPr>
              <a:spcAft>
                <a:spcPts val="400"/>
              </a:spcAft>
              <a:defRPr sz="1400"/>
            </a:pPr>
            <a:r>
              <a:t>   mv ~/Downloads/export.csv 3_years_churn.csv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3. Run Pipeline:</a:t>
            </a:r>
          </a:p>
          <a:p>
            <a:pPr>
              <a:spcAft>
                <a:spcPts val="400"/>
              </a:spcAft>
              <a:defRPr sz="1400"/>
            </a:pPr>
            <a:r>
              <a:t>   python scripts/run_pipeline.py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4. Verify Output:</a:t>
            </a:r>
          </a:p>
          <a:p>
            <a:pPr>
              <a:spcAft>
                <a:spcPts val="400"/>
              </a:spcAft>
              <a:defRPr sz="1400"/>
            </a:pPr>
            <a:r>
              <a:t>   cat artifacts/train_meta_lgbm.json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Recommended Refresh Schedule:</a:t>
            </a:r>
          </a:p>
          <a:p>
            <a:pPr>
              <a:spcAft>
                <a:spcPts val="400"/>
              </a:spcAft>
              <a:defRPr sz="1400"/>
            </a:pPr>
            <a:r>
              <a:t>  Weekly   - High-value customer monitoring</a:t>
            </a:r>
          </a:p>
          <a:p>
            <a:pPr>
              <a:spcAft>
                <a:spcPts val="400"/>
              </a:spcAft>
              <a:defRPr sz="1400"/>
            </a:pPr>
            <a:r>
              <a:t>  Monthly  - Regular retention campaigns</a:t>
            </a:r>
          </a:p>
          <a:p>
            <a:pPr>
              <a:spcAft>
                <a:spcPts val="400"/>
              </a:spcAft>
              <a:defRPr sz="1400"/>
            </a:pPr>
            <a:r>
              <a:t>  Quarterly - Model performance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Model Comparison: LightGBM vs SGD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Metric          SGDClassifier   LightGBM    Improvement</a:t>
            </a:r>
          </a:p>
          <a:p>
            <a:pPr>
              <a:spcAft>
                <a:spcPts val="400"/>
              </a:spcAft>
              <a:defRPr sz="1400"/>
            </a:pPr>
            <a:r>
              <a:t>ROC-AUC         0.891           0.905       +1.4%</a:t>
            </a:r>
          </a:p>
          <a:p>
            <a:pPr>
              <a:spcAft>
                <a:spcPts val="400"/>
              </a:spcAft>
              <a:defRPr sz="1400"/>
            </a:pPr>
            <a:r>
              <a:t>PR-AUC          0.870           0.888       +1.8%</a:t>
            </a:r>
          </a:p>
          <a:p>
            <a:pPr>
              <a:spcAft>
                <a:spcPts val="400"/>
              </a:spcAft>
              <a:defRPr sz="1400"/>
            </a:pPr>
            <a:r>
              <a:t>F1-opt          0.848           0.855       +0.7%</a:t>
            </a:r>
          </a:p>
          <a:p>
            <a:pPr>
              <a:spcAft>
                <a:spcPts val="400"/>
              </a:spcAft>
              <a:defRPr sz="1400"/>
            </a:pPr>
            <a:r>
              <a:t>Training time   ~3 min          ~2 min      -33%</a:t>
            </a:r>
          </a:p>
          <a:p>
            <a:pPr>
              <a:spcAft>
                <a:spcPts val="400"/>
              </a:spcAft>
              <a:defRPr sz="1400"/>
            </a:pPr>
            <a:r>
              <a:t>Features        49              53          +4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Why LightGBM Performs Better:</a:t>
            </a:r>
          </a:p>
          <a:p>
            <a:pPr>
              <a:spcAft>
                <a:spcPts val="400"/>
              </a:spcAft>
              <a:defRPr sz="1400"/>
            </a:pPr>
            <a:r>
              <a:t>  - Captures non-linear relationships</a:t>
            </a:r>
          </a:p>
          <a:p>
            <a:pPr>
              <a:spcAft>
                <a:spcPts val="400"/>
              </a:spcAft>
              <a:defRPr sz="1400"/>
            </a:pPr>
            <a:r>
              <a:t>  - Handles feature interactions automatically</a:t>
            </a:r>
          </a:p>
          <a:p>
            <a:pPr>
              <a:spcAft>
                <a:spcPts val="400"/>
              </a:spcAft>
              <a:defRPr sz="1400"/>
            </a:pPr>
            <a:r>
              <a:t>  - Better with skewed distributions</a:t>
            </a:r>
          </a:p>
          <a:p>
            <a:pPr>
              <a:spcAft>
                <a:spcPts val="400"/>
              </a:spcAft>
              <a:defRPr sz="1400"/>
            </a:pPr>
            <a:r>
              <a:t>  - No manual feature scaling required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Decision: LightGBM selected as production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Data Limitations:</a:t>
            </a:r>
          </a:p>
          <a:p>
            <a:pPr>
              <a:spcAft>
                <a:spcPts val="400"/>
              </a:spcAft>
              <a:defRPr sz="1400"/>
            </a:pPr>
            <a:r>
              <a:t>  - Sample of 200K customers (not full population)</a:t>
            </a:r>
          </a:p>
          <a:p>
            <a:pPr>
              <a:spcAft>
                <a:spcPts val="400"/>
              </a:spcAft>
              <a:defRPr sz="1400"/>
            </a:pPr>
            <a:r>
              <a:t>  - Only 'incoming' interactions included</a:t>
            </a:r>
          </a:p>
          <a:p>
            <a:pPr>
              <a:spcAft>
                <a:spcPts val="400"/>
              </a:spcAft>
              <a:defRPr sz="1400"/>
            </a:pPr>
            <a:r>
              <a:t>  - 36-month history may miss longer patterns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Model Limitations:</a:t>
            </a:r>
          </a:p>
          <a:p>
            <a:pPr>
              <a:spcAft>
                <a:spcPts val="400"/>
              </a:spcAft>
              <a:defRPr sz="1400"/>
            </a:pPr>
            <a:r>
              <a:t>  - Cannot predict for customers with no activity history</a:t>
            </a:r>
          </a:p>
          <a:p>
            <a:pPr>
              <a:spcAft>
                <a:spcPts val="400"/>
              </a:spcAft>
              <a:defRPr sz="1400"/>
            </a:pPr>
            <a:r>
              <a:t>  - Does not incorporate demographic or transaction value data</a:t>
            </a:r>
          </a:p>
          <a:p>
            <a:pPr>
              <a:spcAft>
                <a:spcPts val="400"/>
              </a:spcAft>
              <a:defRPr sz="1400"/>
            </a:pPr>
            <a:r>
              <a:t>  - Fixed 30-day churn window may not suit all use cases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Operational Limitations:</a:t>
            </a:r>
          </a:p>
          <a:p>
            <a:pPr>
              <a:spcAft>
                <a:spcPts val="400"/>
              </a:spcAft>
              <a:defRPr sz="1400"/>
            </a:pPr>
            <a:r>
              <a:t>  - Requires manual data refresh</a:t>
            </a:r>
          </a:p>
          <a:p>
            <a:pPr>
              <a:spcAft>
                <a:spcPts val="400"/>
              </a:spcAft>
              <a:defRPr sz="1400"/>
            </a:pPr>
            <a:r>
              <a:t>  - No real-time scoring capability</a:t>
            </a:r>
          </a:p>
          <a:p>
            <a:pPr>
              <a:spcAft>
                <a:spcPts val="400"/>
              </a:spcAft>
              <a:defRPr sz="1400"/>
            </a:pPr>
            <a:r>
              <a:t>  - No automated drift detection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Short-term (Next Sprint):</a:t>
            </a:r>
          </a:p>
          <a:p>
            <a:pPr>
              <a:spcAft>
                <a:spcPts val="400"/>
              </a:spcAft>
              <a:defRPr sz="1400"/>
            </a:pPr>
            <a:r>
              <a:t>  [ ] Integrate output with CRM system</a:t>
            </a:r>
          </a:p>
          <a:p>
            <a:pPr>
              <a:spcAft>
                <a:spcPts val="400"/>
              </a:spcAft>
              <a:defRPr sz="1400"/>
            </a:pPr>
            <a:r>
              <a:t>  [ ] Set up automated weekly refresh</a:t>
            </a:r>
          </a:p>
          <a:p>
            <a:pPr>
              <a:spcAft>
                <a:spcPts val="400"/>
              </a:spcAft>
              <a:defRPr sz="1400"/>
            </a:pPr>
            <a:r>
              <a:t>  [ ] Create monitoring dashboard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Medium-term (Next Quarter):</a:t>
            </a:r>
          </a:p>
          <a:p>
            <a:pPr>
              <a:spcAft>
                <a:spcPts val="400"/>
              </a:spcAft>
              <a:defRPr sz="1400"/>
            </a:pPr>
            <a:r>
              <a:t>  [ ] Add feature drift monitoring</a:t>
            </a:r>
          </a:p>
          <a:p>
            <a:pPr>
              <a:spcAft>
                <a:spcPts val="400"/>
              </a:spcAft>
              <a:defRPr sz="1400"/>
            </a:pPr>
            <a:r>
              <a:t>  [ ] Implement A/B testing for retention campaigns</a:t>
            </a:r>
          </a:p>
          <a:p>
            <a:pPr>
              <a:spcAft>
                <a:spcPts val="400"/>
              </a:spcAft>
              <a:defRPr sz="1400"/>
            </a:pPr>
            <a:r>
              <a:t>  [ ] Add unit tests for feature engineering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Long-term (Next 6 Months):</a:t>
            </a:r>
          </a:p>
          <a:p>
            <a:pPr>
              <a:spcAft>
                <a:spcPts val="400"/>
              </a:spcAft>
              <a:defRPr sz="1400"/>
            </a:pPr>
            <a:r>
              <a:t>  [ ] Expand to full customer population</a:t>
            </a:r>
          </a:p>
          <a:p>
            <a:pPr>
              <a:spcAft>
                <a:spcPts val="400"/>
              </a:spcAft>
              <a:defRPr sz="1400"/>
            </a:pPr>
            <a:r>
              <a:t>  [ ] Add customer lifetime value features</a:t>
            </a:r>
          </a:p>
          <a:p>
            <a:pPr>
              <a:spcAft>
                <a:spcPts val="400"/>
              </a:spcAft>
              <a:defRPr sz="1400"/>
            </a:pPr>
            <a:r>
              <a:t>  [ ] Explore real-time scoring options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What We Built:</a:t>
            </a:r>
          </a:p>
          <a:p>
            <a:pPr>
              <a:spcAft>
                <a:spcPts val="400"/>
              </a:spcAft>
              <a:defRPr sz="1400"/>
            </a:pPr>
            <a:r>
              <a:t>  - Production-ready churn prediction model</a:t>
            </a:r>
          </a:p>
          <a:p>
            <a:pPr>
              <a:spcAft>
                <a:spcPts val="400"/>
              </a:spcAft>
              <a:defRPr sz="1400"/>
            </a:pPr>
            <a:r>
              <a:t>  - Automated 5-step pipeline</a:t>
            </a:r>
          </a:p>
          <a:p>
            <a:pPr>
              <a:spcAft>
                <a:spcPts val="400"/>
              </a:spcAft>
              <a:defRPr sz="1400"/>
            </a:pPr>
            <a:r>
              <a:t>  - Scoring for 200K customers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Key Results:</a:t>
            </a:r>
          </a:p>
          <a:p>
            <a:pPr>
              <a:spcAft>
                <a:spcPts val="400"/>
              </a:spcAft>
              <a:defRPr sz="1400"/>
            </a:pPr>
            <a:r>
              <a:t>  - 90.5% ROC-AUC accuracy</a:t>
            </a:r>
          </a:p>
          <a:p>
            <a:pPr>
              <a:spcAft>
                <a:spcPts val="400"/>
              </a:spcAft>
              <a:defRPr sz="1400"/>
            </a:pPr>
            <a:r>
              <a:t>  - Stable performance across 12 months</a:t>
            </a:r>
          </a:p>
          <a:p>
            <a:pPr>
              <a:spcAft>
                <a:spcPts val="400"/>
              </a:spcAft>
              <a:defRPr sz="1400"/>
            </a:pPr>
            <a:r>
              <a:t>  - Clear risk segmentation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Business Impact:</a:t>
            </a:r>
          </a:p>
          <a:p>
            <a:pPr>
              <a:spcAft>
                <a:spcPts val="400"/>
              </a:spcAft>
              <a:defRPr sz="1400"/>
            </a:pPr>
            <a:r>
              <a:t>  - 163,977 customers identified as at-risk</a:t>
            </a:r>
          </a:p>
          <a:p>
            <a:pPr>
              <a:spcAft>
                <a:spcPts val="400"/>
              </a:spcAft>
              <a:defRPr sz="1400"/>
            </a:pPr>
            <a:r>
              <a:t>  - Prioritized list for retention team</a:t>
            </a:r>
          </a:p>
          <a:p>
            <a:pPr>
              <a:spcAft>
                <a:spcPts val="400"/>
              </a:spcAft>
              <a:defRPr sz="1400"/>
            </a:pPr>
            <a:r>
              <a:t>  - Data-driven resource allocation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